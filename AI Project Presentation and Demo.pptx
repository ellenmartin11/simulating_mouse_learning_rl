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1" r:id="rId4"/>
    <p:sldId id="258" r:id="rId5"/>
    <p:sldId id="259" r:id="rId6"/>
    <p:sldId id="260" r:id="rId7"/>
  </p:sldIdLst>
  <p:sldSz cx="18288000" cy="10287000"/>
  <p:notesSz cx="6858000" cy="9144000"/>
  <p:embeddedFontLst>
    <p:embeddedFont>
      <p:font typeface="Barlow" pitchFamily="2" charset="77"/>
      <p:regular r:id="rId9"/>
      <p:bold r:id="rId10"/>
      <p:italic r:id="rId11"/>
      <p:boldItalic r:id="rId12"/>
    </p:embeddedFont>
    <p:embeddedFont>
      <p:font typeface="Barlow Bold" pitchFamily="2" charset="77"/>
      <p:regular r:id="rId13"/>
      <p:bold r:id="rId14"/>
    </p:embeddedFont>
    <p:embeddedFont>
      <p:font typeface="Barlow Bold Italics" pitchFamily="2" charset="77"/>
      <p:regular r:id="rId15"/>
      <p:bold r:id="rId16"/>
      <p:italic r:id="rId17"/>
      <p:boldItalic r:id="rId18"/>
    </p:embeddedFont>
    <p:embeddedFont>
      <p:font typeface="Barlow Semi-Bold" pitchFamily="2" charset="77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41" autoAdjust="0"/>
    <p:restoredTop sz="94609" autoAdjust="0"/>
  </p:normalViewPr>
  <p:slideViewPr>
    <p:cSldViewPr>
      <p:cViewPr varScale="1">
        <p:scale>
          <a:sx n="101" d="100"/>
          <a:sy n="101" d="100"/>
        </p:scale>
        <p:origin x="3352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theme" Target="theme/theme1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314C28-0889-394B-A727-728EAEFDACC1}" type="datetimeFigureOut">
              <a:rPr lang="en-US" smtClean="0"/>
              <a:t>12/1/25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5D46BC-5B56-9742-B3BE-8B116131A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735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D46BC-5B56-9742-B3BE-8B116131A7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804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644056"/>
            <a:ext cx="2740845" cy="769288"/>
            <a:chOff x="0" y="0"/>
            <a:chExt cx="6909363" cy="19392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909363" cy="1939290"/>
            </a:xfrm>
            <a:custGeom>
              <a:avLst/>
              <a:gdLst/>
              <a:ahLst/>
              <a:cxnLst/>
              <a:rect l="l" t="t" r="r" b="b"/>
              <a:pathLst>
                <a:path w="6909363" h="1939290">
                  <a:moveTo>
                    <a:pt x="5939718" y="0"/>
                  </a:moveTo>
                  <a:lnTo>
                    <a:pt x="969645" y="0"/>
                  </a:lnTo>
                  <a:cubicBezTo>
                    <a:pt x="434975" y="0"/>
                    <a:pt x="0" y="434975"/>
                    <a:pt x="0" y="969645"/>
                  </a:cubicBezTo>
                  <a:cubicBezTo>
                    <a:pt x="0" y="1504315"/>
                    <a:pt x="434975" y="1939290"/>
                    <a:pt x="969645" y="1939290"/>
                  </a:cubicBezTo>
                  <a:lnTo>
                    <a:pt x="5939718" y="1939290"/>
                  </a:lnTo>
                  <a:cubicBezTo>
                    <a:pt x="6474388" y="1939290"/>
                    <a:pt x="6909363" y="1504315"/>
                    <a:pt x="6909363" y="969645"/>
                  </a:cubicBezTo>
                  <a:cubicBezTo>
                    <a:pt x="6909363" y="434975"/>
                    <a:pt x="6474388" y="0"/>
                    <a:pt x="5939718" y="0"/>
                  </a:cubicBezTo>
                  <a:close/>
                  <a:moveTo>
                    <a:pt x="5939718" y="1913890"/>
                  </a:moveTo>
                  <a:lnTo>
                    <a:pt x="969645" y="1913890"/>
                  </a:lnTo>
                  <a:cubicBezTo>
                    <a:pt x="448945" y="1913890"/>
                    <a:pt x="25400" y="1490345"/>
                    <a:pt x="25400" y="969645"/>
                  </a:cubicBezTo>
                  <a:cubicBezTo>
                    <a:pt x="25400" y="448945"/>
                    <a:pt x="448945" y="25400"/>
                    <a:pt x="969645" y="25400"/>
                  </a:cubicBezTo>
                  <a:lnTo>
                    <a:pt x="5939718" y="25400"/>
                  </a:lnTo>
                  <a:cubicBezTo>
                    <a:pt x="6460418" y="25400"/>
                    <a:pt x="6883963" y="448945"/>
                    <a:pt x="6883963" y="969645"/>
                  </a:cubicBezTo>
                  <a:cubicBezTo>
                    <a:pt x="6883963" y="1490345"/>
                    <a:pt x="6460418" y="1913890"/>
                    <a:pt x="5939718" y="1913890"/>
                  </a:cubicBezTo>
                  <a:close/>
                </a:path>
              </a:pathLst>
            </a:custGeom>
            <a:solidFill>
              <a:srgbClr val="3D3D3D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AutoShape 4"/>
          <p:cNvSpPr/>
          <p:nvPr/>
        </p:nvSpPr>
        <p:spPr>
          <a:xfrm>
            <a:off x="3769545" y="1033463"/>
            <a:ext cx="12644544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028700" y="9253538"/>
            <a:ext cx="16230600" cy="476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1853858" y="2555487"/>
            <a:ext cx="5246370" cy="524637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/>
              <a:stretch>
                <a:fillRect t="-18248" b="-1824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245775" y="822007"/>
            <a:ext cx="2306695" cy="318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49"/>
              </a:lnSpc>
              <a:spcBef>
                <a:spcPct val="0"/>
              </a:spcBef>
            </a:pPr>
            <a:r>
              <a:rPr lang="en-US" sz="1899" b="1" spc="7" dirty="0">
                <a:solidFill>
                  <a:srgbClr val="3D3D3D"/>
                </a:solidFill>
                <a:latin typeface="Barlow Bold"/>
                <a:ea typeface="Barlow Bold"/>
                <a:cs typeface="Barlow Bold"/>
                <a:sym typeface="Barlow Bold"/>
              </a:rPr>
              <a:t>Intro to AI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45775" y="3907553"/>
            <a:ext cx="9568436" cy="1615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4400" b="1" spc="11" dirty="0">
                <a:solidFill>
                  <a:srgbClr val="3D3D3D"/>
                </a:solidFill>
                <a:latin typeface="Barlow Bold"/>
                <a:ea typeface="Barlow Bold"/>
                <a:cs typeface="Barlow Bold"/>
                <a:sym typeface="Barlow Bold"/>
              </a:rPr>
              <a:t>Simulating real-life rodent reward-based learning in a dynamic two-armed bandit task.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86728" y="826770"/>
            <a:ext cx="372572" cy="346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849"/>
              </a:lnSpc>
              <a:spcBef>
                <a:spcPct val="0"/>
              </a:spcBef>
            </a:pPr>
            <a:r>
              <a:rPr lang="en-US" sz="1899" b="1" spc="7">
                <a:solidFill>
                  <a:srgbClr val="3D3D3D"/>
                </a:solidFill>
                <a:latin typeface="Barlow Bold"/>
                <a:ea typeface="Barlow Bold"/>
                <a:cs typeface="Barlow Bold"/>
                <a:sym typeface="Barlow Bold"/>
              </a:rPr>
              <a:t>01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19437" y="7277100"/>
            <a:ext cx="5425179" cy="475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199"/>
              </a:lnSpc>
              <a:spcBef>
                <a:spcPct val="0"/>
              </a:spcBef>
            </a:pPr>
            <a:r>
              <a:rPr lang="en-US" sz="2799" b="1" spc="11" dirty="0">
                <a:solidFill>
                  <a:srgbClr val="3D3D3D"/>
                </a:solidFill>
                <a:latin typeface="Barlow Bold"/>
                <a:ea typeface="Barlow Bold"/>
                <a:cs typeface="Barlow Bold"/>
                <a:sym typeface="Barlow Bold"/>
              </a:rPr>
              <a:t>Presented by Ellen Martin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30375" y="1618100"/>
            <a:ext cx="14084886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8000" b="1">
                <a:solidFill>
                  <a:srgbClr val="3D3D3D"/>
                </a:solidFill>
                <a:latin typeface="Barlow Bold"/>
                <a:ea typeface="Barlow Bold"/>
                <a:cs typeface="Barlow Bold"/>
                <a:sym typeface="Barlow Bold"/>
              </a:rPr>
              <a:t>Overview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148616" y="3524131"/>
            <a:ext cx="13648403" cy="3618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5603" lvl="1" indent="-292802" algn="just">
              <a:lnSpc>
                <a:spcPts val="4068"/>
              </a:lnSpc>
              <a:buFont typeface="Arial"/>
              <a:buChar char="•"/>
            </a:pPr>
            <a:r>
              <a:rPr lang="en-US" sz="2712" spc="10" dirty="0">
                <a:solidFill>
                  <a:srgbClr val="3D3D3D"/>
                </a:solidFill>
                <a:latin typeface="Barlow"/>
                <a:ea typeface="Barlow"/>
                <a:cs typeface="Barlow"/>
                <a:sym typeface="Barlow"/>
              </a:rPr>
              <a:t>Understanding the cognitive processes underlying decision-making is a key challenge in the fields of neuroscience and artificial intelligence. </a:t>
            </a:r>
          </a:p>
          <a:p>
            <a:pPr marL="585603" lvl="1" indent="-292802" algn="just">
              <a:lnSpc>
                <a:spcPts val="4068"/>
              </a:lnSpc>
              <a:buFont typeface="Arial"/>
              <a:buChar char="•"/>
            </a:pPr>
            <a:r>
              <a:rPr lang="en-US" sz="2712" spc="10" dirty="0">
                <a:solidFill>
                  <a:srgbClr val="3D3D3D"/>
                </a:solidFill>
                <a:latin typeface="Barlow"/>
                <a:ea typeface="Barlow"/>
                <a:cs typeface="Barlow"/>
                <a:sym typeface="Barlow"/>
              </a:rPr>
              <a:t>These fields both aim to uncover </a:t>
            </a:r>
            <a:r>
              <a:rPr lang="en-US" sz="2712" b="1" i="1" spc="10" dirty="0">
                <a:solidFill>
                  <a:srgbClr val="3D3D3D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how organic, biological systems learn to make optimal decisions.</a:t>
            </a:r>
          </a:p>
          <a:p>
            <a:pPr marL="585603" lvl="1" indent="-292802" algn="just">
              <a:lnSpc>
                <a:spcPts val="4068"/>
              </a:lnSpc>
              <a:buFont typeface="Arial"/>
              <a:buChar char="•"/>
            </a:pPr>
            <a:r>
              <a:rPr lang="en-US" sz="2712" spc="10" dirty="0">
                <a:solidFill>
                  <a:srgbClr val="3D3D3D"/>
                </a:solidFill>
                <a:latin typeface="Barlow"/>
                <a:ea typeface="Barlow"/>
                <a:cs typeface="Barlow"/>
                <a:sym typeface="Barlow"/>
              </a:rPr>
              <a:t>We can address this question by applying algorithmic approaches, such as fitting Reinforcement Learning (RL) models. </a:t>
            </a:r>
          </a:p>
          <a:p>
            <a:pPr algn="just">
              <a:lnSpc>
                <a:spcPts val="4068"/>
              </a:lnSpc>
            </a:pPr>
            <a:endParaRPr lang="en-US" sz="2712" spc="10" dirty="0">
              <a:solidFill>
                <a:srgbClr val="3D3D3D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028700" y="644056"/>
            <a:ext cx="2740845" cy="769288"/>
            <a:chOff x="0" y="0"/>
            <a:chExt cx="6909363" cy="19392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909363" cy="1939290"/>
            </a:xfrm>
            <a:custGeom>
              <a:avLst/>
              <a:gdLst/>
              <a:ahLst/>
              <a:cxnLst/>
              <a:rect l="l" t="t" r="r" b="b"/>
              <a:pathLst>
                <a:path w="6909363" h="1939290">
                  <a:moveTo>
                    <a:pt x="5939718" y="0"/>
                  </a:moveTo>
                  <a:lnTo>
                    <a:pt x="969645" y="0"/>
                  </a:lnTo>
                  <a:cubicBezTo>
                    <a:pt x="434975" y="0"/>
                    <a:pt x="0" y="434975"/>
                    <a:pt x="0" y="969645"/>
                  </a:cubicBezTo>
                  <a:cubicBezTo>
                    <a:pt x="0" y="1504315"/>
                    <a:pt x="434975" y="1939290"/>
                    <a:pt x="969645" y="1939290"/>
                  </a:cubicBezTo>
                  <a:lnTo>
                    <a:pt x="5939718" y="1939290"/>
                  </a:lnTo>
                  <a:cubicBezTo>
                    <a:pt x="6474388" y="1939290"/>
                    <a:pt x="6909363" y="1504315"/>
                    <a:pt x="6909363" y="969645"/>
                  </a:cubicBezTo>
                  <a:cubicBezTo>
                    <a:pt x="6909363" y="434975"/>
                    <a:pt x="6474388" y="0"/>
                    <a:pt x="5939718" y="0"/>
                  </a:cubicBezTo>
                  <a:close/>
                  <a:moveTo>
                    <a:pt x="5939718" y="1913890"/>
                  </a:moveTo>
                  <a:lnTo>
                    <a:pt x="969645" y="1913890"/>
                  </a:lnTo>
                  <a:cubicBezTo>
                    <a:pt x="448945" y="1913890"/>
                    <a:pt x="25400" y="1490345"/>
                    <a:pt x="25400" y="969645"/>
                  </a:cubicBezTo>
                  <a:cubicBezTo>
                    <a:pt x="25400" y="448945"/>
                    <a:pt x="448945" y="25400"/>
                    <a:pt x="969645" y="25400"/>
                  </a:cubicBezTo>
                  <a:lnTo>
                    <a:pt x="5939718" y="25400"/>
                  </a:lnTo>
                  <a:cubicBezTo>
                    <a:pt x="6460418" y="25400"/>
                    <a:pt x="6883963" y="448945"/>
                    <a:pt x="6883963" y="969645"/>
                  </a:cubicBezTo>
                  <a:cubicBezTo>
                    <a:pt x="6883963" y="1490345"/>
                    <a:pt x="6460418" y="1913890"/>
                    <a:pt x="5939718" y="1913890"/>
                  </a:cubicBezTo>
                  <a:close/>
                </a:path>
              </a:pathLst>
            </a:custGeom>
            <a:solidFill>
              <a:srgbClr val="3D3D3D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>
            <a:off x="3769545" y="1033463"/>
            <a:ext cx="12644544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1028700" y="9253538"/>
            <a:ext cx="16230600" cy="476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245775" y="822007"/>
            <a:ext cx="2306695" cy="318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49"/>
              </a:lnSpc>
              <a:spcBef>
                <a:spcPct val="0"/>
              </a:spcBef>
            </a:pPr>
            <a:r>
              <a:rPr lang="en-US" sz="1899" b="1" spc="7" dirty="0">
                <a:solidFill>
                  <a:srgbClr val="3D3D3D"/>
                </a:solidFill>
                <a:latin typeface="Barlow Bold"/>
                <a:ea typeface="Barlow Bold"/>
                <a:cs typeface="Barlow Bold"/>
                <a:sym typeface="Barlow Bold"/>
              </a:rPr>
              <a:t>Intro to AI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886728" y="826770"/>
            <a:ext cx="372572" cy="346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849"/>
              </a:lnSpc>
              <a:spcBef>
                <a:spcPct val="0"/>
              </a:spcBef>
            </a:pPr>
            <a:r>
              <a:rPr lang="en-US" sz="1899" b="1" spc="7">
                <a:solidFill>
                  <a:srgbClr val="3D3D3D"/>
                </a:solidFill>
                <a:latin typeface="Barlow Bold"/>
                <a:ea typeface="Barlow Bold"/>
                <a:cs typeface="Barlow Bold"/>
                <a:sym typeface="Barlow Bol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776FA5-2A45-A071-05C8-4BE2F7689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563AA79E-D4B6-093D-ABFE-EEEE41081C2B}"/>
              </a:ext>
            </a:extLst>
          </p:cNvPr>
          <p:cNvSpPr txBox="1"/>
          <p:nvPr/>
        </p:nvSpPr>
        <p:spPr>
          <a:xfrm>
            <a:off x="1930375" y="1618100"/>
            <a:ext cx="14084886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8000" b="1" dirty="0">
                <a:solidFill>
                  <a:srgbClr val="3D3D3D"/>
                </a:solidFill>
                <a:latin typeface="Barlow Bold"/>
                <a:ea typeface="Barlow Bold"/>
                <a:cs typeface="Barlow Bold"/>
                <a:sym typeface="Barlow Bold"/>
              </a:rPr>
              <a:t>Project Objectives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6039D8F9-A2B4-9C2F-7731-8973030C8DE5}"/>
              </a:ext>
            </a:extLst>
          </p:cNvPr>
          <p:cNvSpPr txBox="1"/>
          <p:nvPr/>
        </p:nvSpPr>
        <p:spPr>
          <a:xfrm>
            <a:off x="2148616" y="4312841"/>
            <a:ext cx="13648403" cy="204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just">
              <a:lnSpc>
                <a:spcPts val="4068"/>
              </a:lnSpc>
              <a:buFont typeface="Arial" panose="020B0604020202020204" pitchFamily="34" charset="0"/>
              <a:buChar char="•"/>
            </a:pPr>
            <a:r>
              <a:rPr lang="en-US" sz="2712" spc="10" dirty="0">
                <a:solidFill>
                  <a:srgbClr val="3D3D3D"/>
                </a:solidFill>
                <a:latin typeface="Barlow"/>
                <a:ea typeface="Barlow"/>
                <a:cs typeface="Barlow"/>
                <a:sym typeface="Barlow"/>
              </a:rPr>
              <a:t>Simulate / mimic rodent decision-making and learning curves in a two-armed bandit task</a:t>
            </a:r>
          </a:p>
          <a:p>
            <a:pPr marL="457200" indent="-457200" algn="just">
              <a:lnSpc>
                <a:spcPts val="4068"/>
              </a:lnSpc>
              <a:buFont typeface="Arial" panose="020B0604020202020204" pitchFamily="34" charset="0"/>
              <a:buChar char="•"/>
            </a:pPr>
            <a:r>
              <a:rPr lang="en-US" sz="2712" spc="10" dirty="0">
                <a:solidFill>
                  <a:srgbClr val="3D3D3D"/>
                </a:solidFill>
                <a:latin typeface="Barlow"/>
                <a:ea typeface="Barlow"/>
                <a:cs typeface="Barlow"/>
                <a:sym typeface="Barlow"/>
              </a:rPr>
              <a:t>Test different reinforcement learning models to best fit rodent </a:t>
            </a:r>
            <a:r>
              <a:rPr lang="en-US" sz="2712" spc="10" dirty="0" err="1">
                <a:solidFill>
                  <a:srgbClr val="3D3D3D"/>
                </a:solidFill>
                <a:latin typeface="Barlow"/>
                <a:ea typeface="Barlow"/>
                <a:cs typeface="Barlow"/>
                <a:sym typeface="Barlow"/>
              </a:rPr>
              <a:t>behaviour</a:t>
            </a:r>
            <a:r>
              <a:rPr lang="en-US" sz="2712" spc="10" dirty="0">
                <a:solidFill>
                  <a:srgbClr val="3D3D3D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</a:p>
          <a:p>
            <a:pPr marL="457200" indent="-457200" algn="just">
              <a:lnSpc>
                <a:spcPts val="4068"/>
              </a:lnSpc>
              <a:buFont typeface="Arial" panose="020B0604020202020204" pitchFamily="34" charset="0"/>
              <a:buChar char="•"/>
            </a:pPr>
            <a:r>
              <a:rPr lang="en-US" sz="2712" spc="10" dirty="0">
                <a:solidFill>
                  <a:srgbClr val="3D3D3D"/>
                </a:solidFill>
                <a:latin typeface="Barlow"/>
                <a:ea typeface="Barlow"/>
                <a:cs typeface="Barlow"/>
                <a:sym typeface="Barlow"/>
              </a:rPr>
              <a:t>Estimate best-fitting parameters to make inferences regarding rodent </a:t>
            </a:r>
            <a:r>
              <a:rPr lang="en-US" sz="2712" spc="10" dirty="0" err="1">
                <a:solidFill>
                  <a:srgbClr val="3D3D3D"/>
                </a:solidFill>
                <a:latin typeface="Barlow"/>
                <a:ea typeface="Barlow"/>
                <a:cs typeface="Barlow"/>
                <a:sym typeface="Barlow"/>
              </a:rPr>
              <a:t>behaviour</a:t>
            </a:r>
            <a:endParaRPr lang="en-US" sz="2712" spc="10" dirty="0">
              <a:solidFill>
                <a:srgbClr val="3D3D3D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B9CA5183-282B-D2FD-6ED9-22B1B4B2EEAE}"/>
              </a:ext>
            </a:extLst>
          </p:cNvPr>
          <p:cNvGrpSpPr/>
          <p:nvPr/>
        </p:nvGrpSpPr>
        <p:grpSpPr>
          <a:xfrm>
            <a:off x="1028700" y="644056"/>
            <a:ext cx="2740845" cy="769288"/>
            <a:chOff x="0" y="0"/>
            <a:chExt cx="6909363" cy="193929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37F2FF9-F07D-3C84-1B57-DA2590735642}"/>
                </a:ext>
              </a:extLst>
            </p:cNvPr>
            <p:cNvSpPr/>
            <p:nvPr/>
          </p:nvSpPr>
          <p:spPr>
            <a:xfrm>
              <a:off x="0" y="0"/>
              <a:ext cx="6909363" cy="1939290"/>
            </a:xfrm>
            <a:custGeom>
              <a:avLst/>
              <a:gdLst/>
              <a:ahLst/>
              <a:cxnLst/>
              <a:rect l="l" t="t" r="r" b="b"/>
              <a:pathLst>
                <a:path w="6909363" h="1939290">
                  <a:moveTo>
                    <a:pt x="5939718" y="0"/>
                  </a:moveTo>
                  <a:lnTo>
                    <a:pt x="969645" y="0"/>
                  </a:lnTo>
                  <a:cubicBezTo>
                    <a:pt x="434975" y="0"/>
                    <a:pt x="0" y="434975"/>
                    <a:pt x="0" y="969645"/>
                  </a:cubicBezTo>
                  <a:cubicBezTo>
                    <a:pt x="0" y="1504315"/>
                    <a:pt x="434975" y="1939290"/>
                    <a:pt x="969645" y="1939290"/>
                  </a:cubicBezTo>
                  <a:lnTo>
                    <a:pt x="5939718" y="1939290"/>
                  </a:lnTo>
                  <a:cubicBezTo>
                    <a:pt x="6474388" y="1939290"/>
                    <a:pt x="6909363" y="1504315"/>
                    <a:pt x="6909363" y="969645"/>
                  </a:cubicBezTo>
                  <a:cubicBezTo>
                    <a:pt x="6909363" y="434975"/>
                    <a:pt x="6474388" y="0"/>
                    <a:pt x="5939718" y="0"/>
                  </a:cubicBezTo>
                  <a:close/>
                  <a:moveTo>
                    <a:pt x="5939718" y="1913890"/>
                  </a:moveTo>
                  <a:lnTo>
                    <a:pt x="969645" y="1913890"/>
                  </a:lnTo>
                  <a:cubicBezTo>
                    <a:pt x="448945" y="1913890"/>
                    <a:pt x="25400" y="1490345"/>
                    <a:pt x="25400" y="969645"/>
                  </a:cubicBezTo>
                  <a:cubicBezTo>
                    <a:pt x="25400" y="448945"/>
                    <a:pt x="448945" y="25400"/>
                    <a:pt x="969645" y="25400"/>
                  </a:cubicBezTo>
                  <a:lnTo>
                    <a:pt x="5939718" y="25400"/>
                  </a:lnTo>
                  <a:cubicBezTo>
                    <a:pt x="6460418" y="25400"/>
                    <a:pt x="6883963" y="448945"/>
                    <a:pt x="6883963" y="969645"/>
                  </a:cubicBezTo>
                  <a:cubicBezTo>
                    <a:pt x="6883963" y="1490345"/>
                    <a:pt x="6460418" y="1913890"/>
                    <a:pt x="5939718" y="1913890"/>
                  </a:cubicBezTo>
                  <a:close/>
                </a:path>
              </a:pathLst>
            </a:custGeom>
            <a:solidFill>
              <a:srgbClr val="3D3D3D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>
            <a:extLst>
              <a:ext uri="{FF2B5EF4-FFF2-40B4-BE49-F238E27FC236}">
                <a16:creationId xmlns:a16="http://schemas.microsoft.com/office/drawing/2014/main" id="{AC38D2A6-28B6-09FD-710F-62264D8EFFB7}"/>
              </a:ext>
            </a:extLst>
          </p:cNvPr>
          <p:cNvSpPr/>
          <p:nvPr/>
        </p:nvSpPr>
        <p:spPr>
          <a:xfrm>
            <a:off x="3769545" y="1033463"/>
            <a:ext cx="12644544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0557A9B6-D633-CF1D-7EB4-5E85C9C4A1B3}"/>
              </a:ext>
            </a:extLst>
          </p:cNvPr>
          <p:cNvSpPr/>
          <p:nvPr/>
        </p:nvSpPr>
        <p:spPr>
          <a:xfrm>
            <a:off x="1028700" y="9253538"/>
            <a:ext cx="16230600" cy="476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1FE2744-E947-4A59-56F4-8B5497CDB496}"/>
              </a:ext>
            </a:extLst>
          </p:cNvPr>
          <p:cNvSpPr txBox="1"/>
          <p:nvPr/>
        </p:nvSpPr>
        <p:spPr>
          <a:xfrm>
            <a:off x="1245775" y="822007"/>
            <a:ext cx="2306695" cy="318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49"/>
              </a:lnSpc>
              <a:spcBef>
                <a:spcPct val="0"/>
              </a:spcBef>
            </a:pPr>
            <a:r>
              <a:rPr lang="en-US" sz="1899" b="1" spc="7" dirty="0">
                <a:solidFill>
                  <a:srgbClr val="3D3D3D"/>
                </a:solidFill>
                <a:latin typeface="Barlow Bold"/>
                <a:ea typeface="Barlow Bold"/>
                <a:cs typeface="Barlow Bold"/>
                <a:sym typeface="Barlow Bold"/>
              </a:rPr>
              <a:t>Intro to AI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84F8C4E-AB7B-0648-A374-03679746DA6F}"/>
              </a:ext>
            </a:extLst>
          </p:cNvPr>
          <p:cNvSpPr txBox="1"/>
          <p:nvPr/>
        </p:nvSpPr>
        <p:spPr>
          <a:xfrm>
            <a:off x="16886728" y="826770"/>
            <a:ext cx="372572" cy="318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849"/>
              </a:lnSpc>
              <a:spcBef>
                <a:spcPct val="0"/>
              </a:spcBef>
            </a:pPr>
            <a:r>
              <a:rPr lang="en-US" sz="1899" b="1" spc="7" dirty="0">
                <a:solidFill>
                  <a:srgbClr val="3D3D3D"/>
                </a:solidFill>
                <a:latin typeface="Barlow Bold"/>
                <a:ea typeface="Barlow Bold"/>
                <a:cs typeface="Barlow Bold"/>
                <a:sym typeface="Barlow Bold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091546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53254" y="2015427"/>
            <a:ext cx="6488676" cy="23083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n-US" sz="5400" b="1" dirty="0">
                <a:solidFill>
                  <a:srgbClr val="3D3D3D"/>
                </a:solidFill>
                <a:latin typeface="Barlow Bold"/>
                <a:ea typeface="Barlow Bold"/>
                <a:cs typeface="Barlow Bold"/>
                <a:sym typeface="Barlow Bold"/>
              </a:rPr>
              <a:t>Study Mechanics Beron et al (2022)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459422" y="1685853"/>
            <a:ext cx="7354741" cy="879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3D3D3D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Six mice choose from the right or left arm to receive a reward (water) over repeated trials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459422" y="3067003"/>
            <a:ext cx="8613592" cy="418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3D3D3D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Different trial conditions: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435869" y="6606273"/>
            <a:ext cx="8613592" cy="428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3D3D3D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Periodic switching of ‘good’ arm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59422" y="3499538"/>
            <a:ext cx="8352502" cy="2413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lvl="0" indent="-342900" algn="just">
              <a:lnSpc>
                <a:spcPts val="315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100" spc="8" dirty="0">
                <a:solidFill>
                  <a:srgbClr val="3D3D3D"/>
                </a:solidFill>
                <a:latin typeface="Barlow"/>
                <a:ea typeface="Barlow"/>
                <a:cs typeface="Barlow"/>
                <a:sym typeface="Barlow"/>
              </a:rPr>
              <a:t>90-10: : ’good’ arm delivers reward (water) 90% of the time, ‘bad’ arm delivers reward 10% of the time (mean = 649 trials, SD = 138)</a:t>
            </a:r>
          </a:p>
          <a:p>
            <a:pPr marL="342900" lvl="0" indent="-342900" algn="just">
              <a:lnSpc>
                <a:spcPts val="315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100" spc="8" dirty="0">
                <a:solidFill>
                  <a:srgbClr val="3D3D3D"/>
                </a:solidFill>
                <a:latin typeface="Barlow"/>
                <a:ea typeface="Barlow"/>
                <a:cs typeface="Barlow"/>
                <a:sym typeface="Barlow"/>
              </a:rPr>
              <a:t>80-20: ’good’ arm 80% of the time rewarded, ‘bad’ arm 20% of the time rewarded (mean = 514 trials, SD = 104)</a:t>
            </a:r>
          </a:p>
          <a:p>
            <a:pPr marL="342900" lvl="0" indent="-342900" algn="just">
              <a:lnSpc>
                <a:spcPts val="315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100" spc="8" dirty="0">
                <a:solidFill>
                  <a:srgbClr val="3D3D3D"/>
                </a:solidFill>
                <a:latin typeface="Barlow"/>
                <a:ea typeface="Barlow"/>
                <a:cs typeface="Barlow"/>
                <a:sym typeface="Barlow"/>
              </a:rPr>
              <a:t>70-30: ‘good’ arm 70% of the time rewarded, ‘bad’ arm 30% of the time rewarded (mean = 784, SD = 110)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644056"/>
            <a:ext cx="2740845" cy="769288"/>
            <a:chOff x="0" y="0"/>
            <a:chExt cx="6909363" cy="193929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909363" cy="1939290"/>
            </a:xfrm>
            <a:custGeom>
              <a:avLst/>
              <a:gdLst/>
              <a:ahLst/>
              <a:cxnLst/>
              <a:rect l="l" t="t" r="r" b="b"/>
              <a:pathLst>
                <a:path w="6909363" h="1939290">
                  <a:moveTo>
                    <a:pt x="5939718" y="0"/>
                  </a:moveTo>
                  <a:lnTo>
                    <a:pt x="969645" y="0"/>
                  </a:lnTo>
                  <a:cubicBezTo>
                    <a:pt x="434975" y="0"/>
                    <a:pt x="0" y="434975"/>
                    <a:pt x="0" y="969645"/>
                  </a:cubicBezTo>
                  <a:cubicBezTo>
                    <a:pt x="0" y="1504315"/>
                    <a:pt x="434975" y="1939290"/>
                    <a:pt x="969645" y="1939290"/>
                  </a:cubicBezTo>
                  <a:lnTo>
                    <a:pt x="5939718" y="1939290"/>
                  </a:lnTo>
                  <a:cubicBezTo>
                    <a:pt x="6474388" y="1939290"/>
                    <a:pt x="6909363" y="1504315"/>
                    <a:pt x="6909363" y="969645"/>
                  </a:cubicBezTo>
                  <a:cubicBezTo>
                    <a:pt x="6909363" y="434975"/>
                    <a:pt x="6474388" y="0"/>
                    <a:pt x="5939718" y="0"/>
                  </a:cubicBezTo>
                  <a:close/>
                  <a:moveTo>
                    <a:pt x="5939718" y="1913890"/>
                  </a:moveTo>
                  <a:lnTo>
                    <a:pt x="969645" y="1913890"/>
                  </a:lnTo>
                  <a:cubicBezTo>
                    <a:pt x="448945" y="1913890"/>
                    <a:pt x="25400" y="1490345"/>
                    <a:pt x="25400" y="969645"/>
                  </a:cubicBezTo>
                  <a:cubicBezTo>
                    <a:pt x="25400" y="448945"/>
                    <a:pt x="448945" y="25400"/>
                    <a:pt x="969645" y="25400"/>
                  </a:cubicBezTo>
                  <a:lnTo>
                    <a:pt x="5939718" y="25400"/>
                  </a:lnTo>
                  <a:cubicBezTo>
                    <a:pt x="6460418" y="25400"/>
                    <a:pt x="6883963" y="448945"/>
                    <a:pt x="6883963" y="969645"/>
                  </a:cubicBezTo>
                  <a:cubicBezTo>
                    <a:pt x="6883963" y="1490345"/>
                    <a:pt x="6460418" y="1913890"/>
                    <a:pt x="5939718" y="1913890"/>
                  </a:cubicBezTo>
                  <a:close/>
                </a:path>
              </a:pathLst>
            </a:custGeom>
            <a:solidFill>
              <a:srgbClr val="3D3D3D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AutoShape 11"/>
          <p:cNvSpPr/>
          <p:nvPr/>
        </p:nvSpPr>
        <p:spPr>
          <a:xfrm>
            <a:off x="3769545" y="1033463"/>
            <a:ext cx="13117184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1028700" y="9253538"/>
            <a:ext cx="16230600" cy="476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245775" y="822007"/>
            <a:ext cx="2306695" cy="318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49"/>
              </a:lnSpc>
              <a:spcBef>
                <a:spcPct val="0"/>
              </a:spcBef>
            </a:pPr>
            <a:r>
              <a:rPr lang="en-US" sz="1899" b="1" spc="7" dirty="0">
                <a:solidFill>
                  <a:srgbClr val="3D3D3D"/>
                </a:solidFill>
                <a:latin typeface="Barlow Bold"/>
                <a:ea typeface="Barlow Bold"/>
                <a:cs typeface="Barlow Bold"/>
                <a:sym typeface="Barlow Bold"/>
              </a:rPr>
              <a:t>Intro to AI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886728" y="826770"/>
            <a:ext cx="372572" cy="318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849"/>
              </a:lnSpc>
              <a:spcBef>
                <a:spcPct val="0"/>
              </a:spcBef>
            </a:pPr>
            <a:r>
              <a:rPr lang="en-US" sz="1899" b="1" spc="7" dirty="0">
                <a:solidFill>
                  <a:srgbClr val="3D3D3D"/>
                </a:solidFill>
                <a:latin typeface="Barlow Bold"/>
                <a:ea typeface="Barlow Bold"/>
                <a:cs typeface="Barlow Bold"/>
                <a:sym typeface="Barlow Bold"/>
              </a:rPr>
              <a:t>04</a:t>
            </a:r>
          </a:p>
        </p:txBody>
      </p:sp>
      <p:sp>
        <p:nvSpPr>
          <p:cNvPr id="15" name="Freeform 15"/>
          <p:cNvSpPr/>
          <p:nvPr/>
        </p:nvSpPr>
        <p:spPr>
          <a:xfrm>
            <a:off x="1573422" y="4775697"/>
            <a:ext cx="6268508" cy="2726801"/>
          </a:xfrm>
          <a:custGeom>
            <a:avLst/>
            <a:gdLst/>
            <a:ahLst/>
            <a:cxnLst/>
            <a:rect l="l" t="t" r="r" b="b"/>
            <a:pathLst>
              <a:path w="6268508" h="2726801">
                <a:moveTo>
                  <a:pt x="0" y="0"/>
                </a:moveTo>
                <a:lnTo>
                  <a:pt x="6268508" y="0"/>
                </a:lnTo>
                <a:lnTo>
                  <a:pt x="6268508" y="2726801"/>
                </a:lnTo>
                <a:lnTo>
                  <a:pt x="0" y="27268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8">
            <a:extLst>
              <a:ext uri="{FF2B5EF4-FFF2-40B4-BE49-F238E27FC236}">
                <a16:creationId xmlns:a16="http://schemas.microsoft.com/office/drawing/2014/main" id="{3B47FA62-2AF0-068F-4EAE-8FBCC41963BE}"/>
              </a:ext>
            </a:extLst>
          </p:cNvPr>
          <p:cNvSpPr txBox="1"/>
          <p:nvPr/>
        </p:nvSpPr>
        <p:spPr>
          <a:xfrm>
            <a:off x="8435869" y="7139786"/>
            <a:ext cx="8352502" cy="771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150"/>
              </a:lnSpc>
              <a:spcBef>
                <a:spcPct val="0"/>
              </a:spcBef>
            </a:pPr>
            <a:r>
              <a:rPr lang="en-US" sz="2100" spc="8" dirty="0">
                <a:solidFill>
                  <a:srgbClr val="3D3D3D"/>
                </a:solidFill>
                <a:latin typeface="Barlow"/>
                <a:ea typeface="Barlow"/>
                <a:cs typeface="Barlow"/>
                <a:sym typeface="Barlow"/>
              </a:rPr>
              <a:t>Mice have to re-learn which arm is ‘good’ (i.e., more rewarding) after an unpredictable switch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028700" y="644056"/>
            <a:ext cx="2740845" cy="769288"/>
            <a:chOff x="0" y="0"/>
            <a:chExt cx="6909363" cy="19392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909363" cy="1939290"/>
            </a:xfrm>
            <a:custGeom>
              <a:avLst/>
              <a:gdLst/>
              <a:ahLst/>
              <a:cxnLst/>
              <a:rect l="l" t="t" r="r" b="b"/>
              <a:pathLst>
                <a:path w="6909363" h="1939290">
                  <a:moveTo>
                    <a:pt x="5939718" y="0"/>
                  </a:moveTo>
                  <a:lnTo>
                    <a:pt x="969645" y="0"/>
                  </a:lnTo>
                  <a:cubicBezTo>
                    <a:pt x="434975" y="0"/>
                    <a:pt x="0" y="434975"/>
                    <a:pt x="0" y="969645"/>
                  </a:cubicBezTo>
                  <a:cubicBezTo>
                    <a:pt x="0" y="1504315"/>
                    <a:pt x="434975" y="1939290"/>
                    <a:pt x="969645" y="1939290"/>
                  </a:cubicBezTo>
                  <a:lnTo>
                    <a:pt x="5939718" y="1939290"/>
                  </a:lnTo>
                  <a:cubicBezTo>
                    <a:pt x="6474388" y="1939290"/>
                    <a:pt x="6909363" y="1504315"/>
                    <a:pt x="6909363" y="969645"/>
                  </a:cubicBezTo>
                  <a:cubicBezTo>
                    <a:pt x="6909363" y="434975"/>
                    <a:pt x="6474388" y="0"/>
                    <a:pt x="5939718" y="0"/>
                  </a:cubicBezTo>
                  <a:close/>
                  <a:moveTo>
                    <a:pt x="5939718" y="1913890"/>
                  </a:moveTo>
                  <a:lnTo>
                    <a:pt x="969645" y="1913890"/>
                  </a:lnTo>
                  <a:cubicBezTo>
                    <a:pt x="448945" y="1913890"/>
                    <a:pt x="25400" y="1490345"/>
                    <a:pt x="25400" y="969645"/>
                  </a:cubicBezTo>
                  <a:cubicBezTo>
                    <a:pt x="25400" y="448945"/>
                    <a:pt x="448945" y="25400"/>
                    <a:pt x="969645" y="25400"/>
                  </a:cubicBezTo>
                  <a:lnTo>
                    <a:pt x="5939718" y="25400"/>
                  </a:lnTo>
                  <a:cubicBezTo>
                    <a:pt x="6460418" y="25400"/>
                    <a:pt x="6883963" y="448945"/>
                    <a:pt x="6883963" y="969645"/>
                  </a:cubicBezTo>
                  <a:cubicBezTo>
                    <a:pt x="6883963" y="1490345"/>
                    <a:pt x="6460418" y="1913890"/>
                    <a:pt x="5939718" y="1913890"/>
                  </a:cubicBezTo>
                  <a:close/>
                </a:path>
              </a:pathLst>
            </a:custGeom>
            <a:solidFill>
              <a:srgbClr val="3D3D3D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>
            <a:off x="3769545" y="1033463"/>
            <a:ext cx="13117184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1028700" y="9253538"/>
            <a:ext cx="16044314" cy="476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3769545" y="1301619"/>
            <a:ext cx="11745189" cy="799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800"/>
              </a:lnSpc>
              <a:spcBef>
                <a:spcPct val="0"/>
              </a:spcBef>
            </a:pPr>
            <a:r>
              <a:rPr lang="en-US" sz="5666" b="1" dirty="0">
                <a:solidFill>
                  <a:srgbClr val="3D3D3D"/>
                </a:solidFill>
                <a:latin typeface="Barlow Bold"/>
                <a:ea typeface="Barlow Bold"/>
                <a:cs typeface="Barlow Bold"/>
                <a:sym typeface="Barlow Bold"/>
              </a:rPr>
              <a:t>Reinforcement Learning Models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45775" y="822007"/>
            <a:ext cx="2306695" cy="318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49"/>
              </a:lnSpc>
              <a:spcBef>
                <a:spcPct val="0"/>
              </a:spcBef>
            </a:pPr>
            <a:r>
              <a:rPr lang="en-US" sz="1899" b="1" spc="7" dirty="0">
                <a:solidFill>
                  <a:srgbClr val="3D3D3D"/>
                </a:solidFill>
                <a:latin typeface="Barlow Bold"/>
                <a:ea typeface="Barlow Bold"/>
                <a:cs typeface="Barlow Bold"/>
                <a:sym typeface="Barlow Bold"/>
              </a:rPr>
              <a:t>Intro to AI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886728" y="826770"/>
            <a:ext cx="372572" cy="318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849"/>
              </a:lnSpc>
              <a:spcBef>
                <a:spcPct val="0"/>
              </a:spcBef>
            </a:pPr>
            <a:r>
              <a:rPr lang="en-US" sz="1899" b="1" spc="7" dirty="0">
                <a:solidFill>
                  <a:srgbClr val="3D3D3D"/>
                </a:solidFill>
                <a:latin typeface="Barlow Bold"/>
                <a:ea typeface="Barlow Bold"/>
                <a:cs typeface="Barlow Bold"/>
                <a:sym typeface="Barlow Bold"/>
              </a:rPr>
              <a:t>05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2558348"/>
            <a:ext cx="5577082" cy="4260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3D3D3D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1) Epsilon Greedy Q-Learning Model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45775" y="5372760"/>
            <a:ext cx="5577083" cy="3911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6532" lvl="1" indent="-203266" algn="l">
              <a:lnSpc>
                <a:spcPts val="2824"/>
              </a:lnSpc>
              <a:buFont typeface="Arial"/>
              <a:buChar char="•"/>
            </a:pPr>
            <a:r>
              <a:rPr lang="en-US" sz="2000" spc="7" dirty="0">
                <a:solidFill>
                  <a:srgbClr val="3D3D3D"/>
                </a:solidFill>
                <a:latin typeface="Barlow"/>
                <a:ea typeface="Barlow"/>
                <a:cs typeface="Barlow"/>
                <a:sym typeface="Barlow"/>
              </a:rPr>
              <a:t>Specify a Q-learning agent (simulated mouse)  with no initial beliefs about the world using </a:t>
            </a:r>
            <a:r>
              <a:rPr lang="en-US" sz="2000" b="1" i="1" spc="7" dirty="0">
                <a:solidFill>
                  <a:srgbClr val="3D3D3D"/>
                </a:solidFill>
                <a:latin typeface="Barlow"/>
                <a:ea typeface="Barlow"/>
                <a:cs typeface="Barlow"/>
                <a:sym typeface="Barlow"/>
              </a:rPr>
              <a:t>epsilon-greedy exploration</a:t>
            </a:r>
          </a:p>
          <a:p>
            <a:pPr marL="406532" lvl="1" indent="-203266" algn="l">
              <a:lnSpc>
                <a:spcPts val="2824"/>
              </a:lnSpc>
              <a:buFont typeface="Arial"/>
              <a:buChar char="•"/>
            </a:pPr>
            <a:r>
              <a:rPr lang="en-US" sz="2000" spc="7" dirty="0">
                <a:solidFill>
                  <a:srgbClr val="3D3D3D"/>
                </a:solidFill>
                <a:latin typeface="Barlow"/>
                <a:ea typeface="Barlow"/>
                <a:cs typeface="Barlow"/>
                <a:sym typeface="Barlow"/>
              </a:rPr>
              <a:t>If randomly generated value &lt; epsilon, random action from action space. </a:t>
            </a:r>
          </a:p>
          <a:p>
            <a:pPr marL="406532" lvl="1" indent="-203266" algn="l">
              <a:lnSpc>
                <a:spcPts val="2824"/>
              </a:lnSpc>
              <a:buFont typeface="Arial"/>
              <a:buChar char="•"/>
            </a:pPr>
            <a:r>
              <a:rPr lang="en-US" sz="2000" spc="7" dirty="0">
                <a:solidFill>
                  <a:srgbClr val="3D3D3D"/>
                </a:solidFill>
                <a:latin typeface="Barlow"/>
                <a:ea typeface="Barlow"/>
                <a:cs typeface="Barlow"/>
                <a:sym typeface="Barlow"/>
              </a:rPr>
              <a:t>Gradually update beliefs through </a:t>
            </a:r>
            <a:r>
              <a:rPr lang="en-US" sz="2000" b="1" i="1" spc="7" dirty="0">
                <a:solidFill>
                  <a:srgbClr val="3D3D3D"/>
                </a:solidFill>
                <a:latin typeface="Barlow"/>
                <a:ea typeface="Barlow"/>
                <a:cs typeface="Barlow"/>
                <a:sym typeface="Barlow"/>
              </a:rPr>
              <a:t>evidence accumulation</a:t>
            </a:r>
            <a:r>
              <a:rPr lang="en-US" sz="2000" spc="7" dirty="0">
                <a:solidFill>
                  <a:srgbClr val="3D3D3D"/>
                </a:solidFill>
                <a:latin typeface="Barlow"/>
                <a:ea typeface="Barlow"/>
                <a:cs typeface="Barlow"/>
                <a:sym typeface="Barlow"/>
              </a:rPr>
              <a:t> (experience of reward or no reward)</a:t>
            </a:r>
          </a:p>
          <a:p>
            <a:pPr marL="406532" lvl="1" indent="-203266" algn="l">
              <a:lnSpc>
                <a:spcPts val="2824"/>
              </a:lnSpc>
              <a:buFont typeface="Arial"/>
              <a:buChar char="•"/>
            </a:pPr>
            <a:r>
              <a:rPr lang="en-US" sz="2000" spc="7" dirty="0">
                <a:solidFill>
                  <a:srgbClr val="3D3D3D"/>
                </a:solidFill>
                <a:latin typeface="Barlow"/>
                <a:ea typeface="Barlow"/>
                <a:cs typeface="Barlow"/>
                <a:sym typeface="Barlow"/>
              </a:rPr>
              <a:t>Simulate decisions based on Q-values.</a:t>
            </a:r>
          </a:p>
          <a:p>
            <a:pPr marL="406532" lvl="1" indent="-203266" algn="l">
              <a:lnSpc>
                <a:spcPts val="2824"/>
              </a:lnSpc>
              <a:buFont typeface="Arial"/>
              <a:buChar char="•"/>
            </a:pPr>
            <a:r>
              <a:rPr lang="en-US" sz="2000" spc="7" dirty="0">
                <a:solidFill>
                  <a:srgbClr val="3D3D3D"/>
                </a:solidFill>
                <a:latin typeface="Barlow"/>
                <a:ea typeface="Barlow"/>
                <a:cs typeface="Barlow"/>
                <a:sym typeface="Barlow"/>
              </a:rPr>
              <a:t>Average performance over multiple simulations.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769803" y="2508003"/>
            <a:ext cx="4659165" cy="1341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3D3D3D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3) Q-Learning with ‘Anticipation’ of switch, and Boltzmann-Exploration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703820" y="6605525"/>
            <a:ext cx="4987615" cy="2115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0693" lvl="1" indent="-200347" algn="l">
              <a:lnSpc>
                <a:spcPts val="2783"/>
              </a:lnSpc>
              <a:buFont typeface="Arial"/>
              <a:buChar char="•"/>
            </a:pPr>
            <a:r>
              <a:rPr lang="en-US" sz="2000" spc="7" dirty="0">
                <a:solidFill>
                  <a:srgbClr val="3D3D3D"/>
                </a:solidFill>
                <a:latin typeface="Barlow"/>
                <a:ea typeface="Barlow"/>
                <a:cs typeface="Barlow"/>
                <a:sym typeface="Barlow"/>
              </a:rPr>
              <a:t>Rewards exploration of less explored arm by scaling up the Q-value</a:t>
            </a:r>
          </a:p>
          <a:p>
            <a:pPr marL="400693" lvl="1" indent="-200347" algn="l">
              <a:lnSpc>
                <a:spcPts val="2783"/>
              </a:lnSpc>
              <a:buFont typeface="Arial"/>
              <a:buChar char="•"/>
            </a:pPr>
            <a:r>
              <a:rPr lang="en-US" sz="2000" spc="7" dirty="0">
                <a:solidFill>
                  <a:srgbClr val="3D3D3D"/>
                </a:solidFill>
                <a:latin typeface="Barlow"/>
                <a:ea typeface="Barlow"/>
                <a:cs typeface="Barlow"/>
                <a:sym typeface="Barlow"/>
              </a:rPr>
              <a:t>Models </a:t>
            </a:r>
            <a:r>
              <a:rPr lang="en-US" sz="2000" b="1" i="1" spc="7" dirty="0">
                <a:solidFill>
                  <a:srgbClr val="3D3D3D"/>
                </a:solidFill>
                <a:latin typeface="Barlow"/>
                <a:ea typeface="Barlow"/>
                <a:cs typeface="Barlow"/>
                <a:sym typeface="Barlow"/>
              </a:rPr>
              <a:t>potential anticipation of a ‘switch’ </a:t>
            </a:r>
            <a:r>
              <a:rPr lang="en-US" sz="2000" spc="7" dirty="0">
                <a:solidFill>
                  <a:srgbClr val="3D3D3D"/>
                </a:solidFill>
                <a:latin typeface="Barlow"/>
                <a:ea typeface="Barlow"/>
                <a:cs typeface="Barlow"/>
                <a:sym typeface="Barlow"/>
              </a:rPr>
              <a:t>in rewarding arms that mice may come to expect with repeated trials by </a:t>
            </a:r>
            <a:r>
              <a:rPr lang="en-US" sz="2000" b="1" i="1" spc="7" dirty="0">
                <a:solidFill>
                  <a:srgbClr val="3D3D3D"/>
                </a:solidFill>
                <a:latin typeface="Barlow"/>
                <a:ea typeface="Barlow"/>
                <a:cs typeface="Barlow"/>
                <a:sym typeface="Barlow"/>
              </a:rPr>
              <a:t>increasing stochasticity in latter trials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31C2DEB-11B9-EE1F-1936-827EDAE38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720" y="4048107"/>
            <a:ext cx="3240314" cy="9652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094AACB-18D4-17AD-A503-D01F8A4B7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200553"/>
            <a:ext cx="4321018" cy="648843"/>
          </a:xfrm>
          <a:prstGeom prst="rect">
            <a:avLst/>
          </a:prstGeom>
        </p:spPr>
      </p:pic>
      <p:sp>
        <p:nvSpPr>
          <p:cNvPr id="20" name="TextBox 14">
            <a:extLst>
              <a:ext uri="{FF2B5EF4-FFF2-40B4-BE49-F238E27FC236}">
                <a16:creationId xmlns:a16="http://schemas.microsoft.com/office/drawing/2014/main" id="{487FFE28-A089-8C29-F7D6-DB3087AF0F2B}"/>
              </a:ext>
            </a:extLst>
          </p:cNvPr>
          <p:cNvSpPr txBox="1"/>
          <p:nvPr/>
        </p:nvSpPr>
        <p:spPr>
          <a:xfrm>
            <a:off x="6822858" y="2558347"/>
            <a:ext cx="5577082" cy="8897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3D3D3D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2) Q-Learning with ‘Forgetting’/’Satiation’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DCE4D51-F9DE-59DA-C79B-6DAE9EDF2B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2972" y="3849396"/>
            <a:ext cx="2496851" cy="793701"/>
          </a:xfrm>
          <a:prstGeom prst="rect">
            <a:avLst/>
          </a:prstGeom>
        </p:spPr>
      </p:pic>
      <p:sp>
        <p:nvSpPr>
          <p:cNvPr id="22" name="TextBox 17">
            <a:extLst>
              <a:ext uri="{FF2B5EF4-FFF2-40B4-BE49-F238E27FC236}">
                <a16:creationId xmlns:a16="http://schemas.microsoft.com/office/drawing/2014/main" id="{3C435E18-743A-7B2E-5138-99186277008A}"/>
              </a:ext>
            </a:extLst>
          </p:cNvPr>
          <p:cNvSpPr txBox="1"/>
          <p:nvPr/>
        </p:nvSpPr>
        <p:spPr>
          <a:xfrm>
            <a:off x="7117591" y="5114663"/>
            <a:ext cx="4987615" cy="2115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0693" lvl="1" indent="-200347" algn="l">
              <a:lnSpc>
                <a:spcPts val="2783"/>
              </a:lnSpc>
              <a:buFont typeface="Arial"/>
              <a:buChar char="•"/>
            </a:pPr>
            <a:r>
              <a:rPr lang="en-US" sz="2000" spc="7" dirty="0">
                <a:solidFill>
                  <a:srgbClr val="3D3D3D"/>
                </a:solidFill>
                <a:latin typeface="Barlow"/>
                <a:ea typeface="Barlow"/>
                <a:cs typeface="Barlow"/>
                <a:sym typeface="Barlow"/>
              </a:rPr>
              <a:t>To account for mice gradually selecting the better arm less with increasing trials, a </a:t>
            </a:r>
            <a:r>
              <a:rPr lang="en-US" sz="2000" b="1" i="1" spc="7" dirty="0">
                <a:solidFill>
                  <a:srgbClr val="3D3D3D"/>
                </a:solidFill>
                <a:latin typeface="Barlow"/>
                <a:ea typeface="Barlow"/>
                <a:cs typeface="Barlow"/>
                <a:sym typeface="Barlow"/>
              </a:rPr>
              <a:t>global ‘forgetting</a:t>
            </a:r>
            <a:r>
              <a:rPr lang="en-US" sz="2000" spc="7" dirty="0">
                <a:solidFill>
                  <a:srgbClr val="3D3D3D"/>
                </a:solidFill>
                <a:latin typeface="Barlow"/>
                <a:ea typeface="Barlow"/>
                <a:cs typeface="Barlow"/>
                <a:sym typeface="Barlow"/>
              </a:rPr>
              <a:t>’ parameter is implemented (decay).</a:t>
            </a:r>
          </a:p>
          <a:p>
            <a:pPr marL="400693" lvl="1" indent="-200347" algn="l">
              <a:lnSpc>
                <a:spcPts val="2783"/>
              </a:lnSpc>
              <a:buFont typeface="Arial"/>
              <a:buChar char="•"/>
            </a:pPr>
            <a:r>
              <a:rPr lang="en-US" sz="2000" spc="7" dirty="0">
                <a:solidFill>
                  <a:srgbClr val="3D3D3D"/>
                </a:solidFill>
                <a:latin typeface="Barlow"/>
                <a:ea typeface="Barlow"/>
                <a:cs typeface="Barlow"/>
                <a:sym typeface="Barlow"/>
              </a:rPr>
              <a:t>This can also be interpreted as ‘satiation’, and mice no longer being thirsty.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4A0997D-5317-562E-5FA3-2155C6DD33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08528" y="4283928"/>
            <a:ext cx="3378200" cy="9652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D618B91-1405-6BA2-8C30-EE0486C521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91574" y="5526626"/>
            <a:ext cx="4987616" cy="6529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644056"/>
            <a:ext cx="2740845" cy="769288"/>
            <a:chOff x="0" y="0"/>
            <a:chExt cx="6909363" cy="19392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909363" cy="1939290"/>
            </a:xfrm>
            <a:custGeom>
              <a:avLst/>
              <a:gdLst/>
              <a:ahLst/>
              <a:cxnLst/>
              <a:rect l="l" t="t" r="r" b="b"/>
              <a:pathLst>
                <a:path w="6909363" h="1939290">
                  <a:moveTo>
                    <a:pt x="5939718" y="0"/>
                  </a:moveTo>
                  <a:lnTo>
                    <a:pt x="969645" y="0"/>
                  </a:lnTo>
                  <a:cubicBezTo>
                    <a:pt x="434975" y="0"/>
                    <a:pt x="0" y="434975"/>
                    <a:pt x="0" y="969645"/>
                  </a:cubicBezTo>
                  <a:cubicBezTo>
                    <a:pt x="0" y="1504315"/>
                    <a:pt x="434975" y="1939290"/>
                    <a:pt x="969645" y="1939290"/>
                  </a:cubicBezTo>
                  <a:lnTo>
                    <a:pt x="5939718" y="1939290"/>
                  </a:lnTo>
                  <a:cubicBezTo>
                    <a:pt x="6474388" y="1939290"/>
                    <a:pt x="6909363" y="1504315"/>
                    <a:pt x="6909363" y="969645"/>
                  </a:cubicBezTo>
                  <a:cubicBezTo>
                    <a:pt x="6909363" y="434975"/>
                    <a:pt x="6474388" y="0"/>
                    <a:pt x="5939718" y="0"/>
                  </a:cubicBezTo>
                  <a:close/>
                  <a:moveTo>
                    <a:pt x="5939718" y="1913890"/>
                  </a:moveTo>
                  <a:lnTo>
                    <a:pt x="969645" y="1913890"/>
                  </a:lnTo>
                  <a:cubicBezTo>
                    <a:pt x="448945" y="1913890"/>
                    <a:pt x="25400" y="1490345"/>
                    <a:pt x="25400" y="969645"/>
                  </a:cubicBezTo>
                  <a:cubicBezTo>
                    <a:pt x="25400" y="448945"/>
                    <a:pt x="448945" y="25400"/>
                    <a:pt x="969645" y="25400"/>
                  </a:cubicBezTo>
                  <a:lnTo>
                    <a:pt x="5939718" y="25400"/>
                  </a:lnTo>
                  <a:cubicBezTo>
                    <a:pt x="6460418" y="25400"/>
                    <a:pt x="6883963" y="448945"/>
                    <a:pt x="6883963" y="969645"/>
                  </a:cubicBezTo>
                  <a:cubicBezTo>
                    <a:pt x="6883963" y="1490345"/>
                    <a:pt x="6460418" y="1913890"/>
                    <a:pt x="5939718" y="1913890"/>
                  </a:cubicBezTo>
                  <a:close/>
                </a:path>
              </a:pathLst>
            </a:custGeom>
            <a:solidFill>
              <a:srgbClr val="3D3D3D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AutoShape 4"/>
          <p:cNvSpPr/>
          <p:nvPr/>
        </p:nvSpPr>
        <p:spPr>
          <a:xfrm>
            <a:off x="3769545" y="1033463"/>
            <a:ext cx="13117184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028700" y="9253538"/>
            <a:ext cx="16230600" cy="476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3048000" y="3061167"/>
            <a:ext cx="12192000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n-US" sz="8000" b="1" dirty="0">
                <a:solidFill>
                  <a:srgbClr val="3D3D3D"/>
                </a:solidFill>
                <a:latin typeface="Barlow Bold"/>
                <a:ea typeface="Barlow Bold"/>
                <a:cs typeface="Barlow Bold"/>
                <a:sym typeface="Barlow Bold"/>
              </a:rPr>
              <a:t>Results and Demonstration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45775" y="822007"/>
            <a:ext cx="2306695" cy="318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49"/>
              </a:lnSpc>
              <a:spcBef>
                <a:spcPct val="0"/>
              </a:spcBef>
            </a:pPr>
            <a:r>
              <a:rPr lang="en-US" sz="1899" b="1" spc="7" dirty="0">
                <a:solidFill>
                  <a:srgbClr val="3D3D3D"/>
                </a:solidFill>
                <a:latin typeface="Barlow Bold"/>
                <a:ea typeface="Barlow Bold"/>
                <a:cs typeface="Barlow Bold"/>
                <a:sym typeface="Barlow Bold"/>
              </a:rPr>
              <a:t>Intro to AI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886728" y="826770"/>
            <a:ext cx="372572" cy="318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849"/>
              </a:lnSpc>
              <a:spcBef>
                <a:spcPct val="0"/>
              </a:spcBef>
            </a:pPr>
            <a:r>
              <a:rPr lang="en-US" sz="1899" b="1" spc="7" dirty="0">
                <a:solidFill>
                  <a:srgbClr val="3D3D3D"/>
                </a:solidFill>
                <a:latin typeface="Barlow Bold"/>
                <a:ea typeface="Barlow Bold"/>
                <a:cs typeface="Barlow Bold"/>
                <a:sym typeface="Barlow Bold"/>
              </a:rPr>
              <a:t>06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428641-2ED1-CD2B-DFDB-FAEF773A3720}"/>
              </a:ext>
            </a:extLst>
          </p:cNvPr>
          <p:cNvSpPr txBox="1"/>
          <p:nvPr/>
        </p:nvSpPr>
        <p:spPr>
          <a:xfrm>
            <a:off x="5791200" y="5741755"/>
            <a:ext cx="670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/ellenmartin11/</a:t>
            </a:r>
            <a:r>
              <a:rPr lang="en-US" dirty="0" err="1"/>
              <a:t>simulating_mouse_learning_RL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</TotalTime>
  <Words>477</Words>
  <Application>Microsoft Macintosh PowerPoint</Application>
  <PresentationFormat>Custom</PresentationFormat>
  <Paragraphs>46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Barlow Semi-Bold</vt:lpstr>
      <vt:lpstr>Calibri</vt:lpstr>
      <vt:lpstr>Barlow Bold</vt:lpstr>
      <vt:lpstr>Aptos</vt:lpstr>
      <vt:lpstr>Barlow Bold Italics</vt:lpstr>
      <vt:lpstr>Barlow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Project Proposal Presentation</dc:title>
  <cp:lastModifiedBy>Martin, Ellen Jane</cp:lastModifiedBy>
  <cp:revision>6</cp:revision>
  <dcterms:created xsi:type="dcterms:W3CDTF">2006-08-16T00:00:00Z</dcterms:created>
  <dcterms:modified xsi:type="dcterms:W3CDTF">2025-12-01T15:32:43Z</dcterms:modified>
  <dc:identifier>DAG4Wa6hZGE</dc:identifier>
</cp:coreProperties>
</file>