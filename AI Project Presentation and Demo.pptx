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8288000" cy="10287000"/>
  <p:notesSz cx="6858000" cy="9144000"/>
  <p:embeddedFontLst>
    <p:embeddedFont>
      <p:font typeface="Barlow" pitchFamily="2" charset="77"/>
      <p:regular r:id="rId9"/>
      <p:bold r:id="rId10"/>
      <p:italic r:id="rId11"/>
      <p:boldItalic r:id="rId12"/>
    </p:embeddedFont>
    <p:embeddedFont>
      <p:font typeface="Barlow Bold" pitchFamily="2" charset="77"/>
      <p:regular r:id="rId13"/>
      <p:bold r:id="rId14"/>
    </p:embeddedFont>
    <p:embeddedFont>
      <p:font typeface="Barlow Bold Italics" pitchFamily="2" charset="77"/>
      <p:regular r:id="rId15"/>
      <p:bold r:id="rId16"/>
      <p:italic r:id="rId17"/>
      <p:boldItalic r:id="rId18"/>
    </p:embeddedFont>
    <p:embeddedFont>
      <p:font typeface="Barlow Semi-Bold" pitchFamily="2" charset="77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46" autoAdjust="0"/>
    <p:restoredTop sz="94648" autoAdjust="0"/>
  </p:normalViewPr>
  <p:slideViewPr>
    <p:cSldViewPr>
      <p:cViewPr varScale="1">
        <p:scale>
          <a:sx n="78" d="100"/>
          <a:sy n="78" d="100"/>
        </p:scale>
        <p:origin x="568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314C28-0889-394B-A727-728EAEFDACC1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5D46BC-5B56-9742-B3BE-8B116131A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735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5D46BC-5B56-9742-B3BE-8B116131A7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080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1853858" y="2555487"/>
            <a:ext cx="5246370" cy="524637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3"/>
              <a:stretch>
                <a:fillRect t="-18248" b="-1824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5775" y="3907553"/>
            <a:ext cx="9568436" cy="1615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4400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Simulating real-life rodent reward-based learning in a dynamic two-armed bandit task.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9437" y="7277100"/>
            <a:ext cx="5425179" cy="475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99"/>
              </a:lnSpc>
              <a:spcBef>
                <a:spcPct val="0"/>
              </a:spcBef>
            </a:pPr>
            <a:r>
              <a:rPr lang="en-US" sz="2799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Presented by Ellen Martin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Overview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48616" y="3524131"/>
            <a:ext cx="13648403" cy="3618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Understanding the cognitive processes underlying decision-making is a key challenge in the fields of neuroscience and artificial intelligence. 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These fields both aim to uncover </a:t>
            </a:r>
            <a:r>
              <a:rPr lang="en-US" sz="2712" b="1" i="1" spc="10" dirty="0">
                <a:solidFill>
                  <a:srgbClr val="3D3D3D"/>
                </a:solidFill>
                <a:latin typeface="Barlow Bold Italics"/>
                <a:ea typeface="Barlow Bold Italics"/>
                <a:cs typeface="Barlow Bold Italics"/>
                <a:sym typeface="Barlow Bold Italics"/>
              </a:rPr>
              <a:t>how organic, biological systems learn to make optimal decisions.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We can address this question by applying algorithmic approaches, such as fitting Reinforcement Learning (RL) models. </a:t>
            </a:r>
          </a:p>
          <a:p>
            <a:pPr algn="just">
              <a:lnSpc>
                <a:spcPts val="4068"/>
              </a:lnSpc>
            </a:pP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76FA5-2A45-A071-05C8-4BE2F768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63AA79E-D4B6-093D-ABFE-EEEE41081C2B}"/>
              </a:ext>
            </a:extLst>
          </p:cNvPr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Project Objectives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039D8F9-A2B4-9C2F-7731-8973030C8DE5}"/>
              </a:ext>
            </a:extLst>
          </p:cNvPr>
          <p:cNvSpPr txBox="1"/>
          <p:nvPr/>
        </p:nvSpPr>
        <p:spPr>
          <a:xfrm>
            <a:off x="2148616" y="4312841"/>
            <a:ext cx="13648403" cy="204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/ mimic rodent decision-making and learning curves in a two-armed bandit task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Test different reinforcement learning models to best fit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Estimate best-fitting parameters to make inferences regarding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9CA5183-282B-D2FD-6ED9-22B1B4B2EEAE}"/>
              </a:ext>
            </a:extLst>
          </p:cNvPr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37F2FF9-F07D-3C84-1B57-DA2590735642}"/>
                </a:ext>
              </a:extLst>
            </p:cNvPr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AC38D2A6-28B6-09FD-710F-62264D8EFFB7}"/>
              </a:ext>
            </a:extLst>
          </p:cNvPr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0557A9B6-D633-CF1D-7EB4-5E85C9C4A1B3}"/>
              </a:ext>
            </a:extLst>
          </p:cNvPr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1FE2744-E947-4A59-56F4-8B5497CDB496}"/>
              </a:ext>
            </a:extLst>
          </p:cNvPr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84F8C4E-AB7B-0648-A374-03679746DA6F}"/>
              </a:ext>
            </a:extLst>
          </p:cNvPr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91546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53254" y="2015427"/>
            <a:ext cx="6488676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54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Study Mechanics Beron et al (2022)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59422" y="1685853"/>
            <a:ext cx="7354741" cy="879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Six mice choose from the right or left arm to receive a reward (water) over repeated trials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9422" y="3067003"/>
            <a:ext cx="8613592" cy="418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Different trial conditions: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35869" y="6606273"/>
            <a:ext cx="8613592" cy="428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Periodic switching of ‘good’ arm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59422" y="3499538"/>
            <a:ext cx="8352502" cy="2413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90-10: : ’good’ arm delivers reward (water) 90% of the time, ‘bad’ arm delivers reward 10% of the time (mean = 649 trials, SD = 138)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80-20: ’good’ arm 80% of the time rewarded, ‘bad’ arm 20% of the time rewarded (mean = 514 trials, SD = 104)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70-30: ‘good’ arm 70% of the time rewarded, ‘bad’ arm 30% of the time rewarded (mean = 784, SD = 110)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AutoShape 11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04</a:t>
            </a:r>
          </a:p>
        </p:txBody>
      </p:sp>
      <p:sp>
        <p:nvSpPr>
          <p:cNvPr id="15" name="Freeform 15"/>
          <p:cNvSpPr/>
          <p:nvPr/>
        </p:nvSpPr>
        <p:spPr>
          <a:xfrm>
            <a:off x="1573422" y="4775697"/>
            <a:ext cx="6268508" cy="2726801"/>
          </a:xfrm>
          <a:custGeom>
            <a:avLst/>
            <a:gdLst/>
            <a:ahLst/>
            <a:cxnLst/>
            <a:rect l="l" t="t" r="r" b="b"/>
            <a:pathLst>
              <a:path w="6268508" h="2726801">
                <a:moveTo>
                  <a:pt x="0" y="0"/>
                </a:moveTo>
                <a:lnTo>
                  <a:pt x="6268508" y="0"/>
                </a:lnTo>
                <a:lnTo>
                  <a:pt x="6268508" y="2726801"/>
                </a:lnTo>
                <a:lnTo>
                  <a:pt x="0" y="27268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3B47FA62-2AF0-068F-4EAE-8FBCC41963BE}"/>
              </a:ext>
            </a:extLst>
          </p:cNvPr>
          <p:cNvSpPr txBox="1"/>
          <p:nvPr/>
        </p:nvSpPr>
        <p:spPr>
          <a:xfrm>
            <a:off x="8435869" y="7139786"/>
            <a:ext cx="8352502" cy="771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150"/>
              </a:lnSpc>
              <a:spcBef>
                <a:spcPct val="0"/>
              </a:spcBef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Mice have to re-learn which arm is ‘good’ (i.e., more rewarding) after an unpredictable switch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044314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3769545" y="1301619"/>
            <a:ext cx="11745189" cy="799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800"/>
              </a:lnSpc>
              <a:spcBef>
                <a:spcPct val="0"/>
              </a:spcBef>
            </a:pPr>
            <a:r>
              <a:rPr lang="en-US" sz="5666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Reinforcement Learning Models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2558348"/>
            <a:ext cx="5577082" cy="426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1) Epsilon Greedy Q-Learning Model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5775" y="5372760"/>
            <a:ext cx="5577083" cy="3911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Specify a Q-learning agent (simulated mouse)  with no initial beliefs about the world using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epsilon-greedy exploration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If randomly generated value &lt; epsilon, random action from action space. 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Gradually update beliefs through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evidence accumulation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(experience of reward or no reward)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decisions based on Q-values.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Average performance over multiple simulations.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769803" y="2508003"/>
            <a:ext cx="4659165" cy="1341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3) Q-Learning with ‘Anticipation’ of switch, and Boltzmann-Exploration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03820" y="6605525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Rewards exploration of less explored arm by scaling up the Q-value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Models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potential anticipation of a ‘switch’ 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 rewarding arms that mice may come to expect with repeated trials by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increasing stochasticity in latter trials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31C2DEB-11B9-EE1F-1936-827EDAE38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720" y="4048107"/>
            <a:ext cx="3240314" cy="965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94AACB-18D4-17AD-A503-D01F8A4B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200553"/>
            <a:ext cx="4321018" cy="648843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487FFE28-A089-8C29-F7D6-DB3087AF0F2B}"/>
              </a:ext>
            </a:extLst>
          </p:cNvPr>
          <p:cNvSpPr txBox="1"/>
          <p:nvPr/>
        </p:nvSpPr>
        <p:spPr>
          <a:xfrm>
            <a:off x="6822858" y="2558347"/>
            <a:ext cx="5577082" cy="8897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2) Q-Learning with ‘Forgetting’/’Satiation’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DCE4D51-F9DE-59DA-C79B-6DAE9EDF2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972" y="3849396"/>
            <a:ext cx="2496851" cy="793701"/>
          </a:xfrm>
          <a:prstGeom prst="rect">
            <a:avLst/>
          </a:prstGeom>
        </p:spPr>
      </p:pic>
      <p:sp>
        <p:nvSpPr>
          <p:cNvPr id="22" name="TextBox 17">
            <a:extLst>
              <a:ext uri="{FF2B5EF4-FFF2-40B4-BE49-F238E27FC236}">
                <a16:creationId xmlns:a16="http://schemas.microsoft.com/office/drawing/2014/main" id="{3C435E18-743A-7B2E-5138-99186277008A}"/>
              </a:ext>
            </a:extLst>
          </p:cNvPr>
          <p:cNvSpPr txBox="1"/>
          <p:nvPr/>
        </p:nvSpPr>
        <p:spPr>
          <a:xfrm>
            <a:off x="7117591" y="5114663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To account for mice gradually selecting the better arm less with increasing trials, a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global ‘forgetting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’ parameter is implemented (decay).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This can also be interpreted as ‘satiation’, and mice no longer being thirsty.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4A0997D-5317-562E-5FA3-2155C6DD3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08528" y="4283928"/>
            <a:ext cx="3378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D618B91-1405-6BA2-8C30-EE0486C521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91574" y="5526626"/>
            <a:ext cx="4987616" cy="6529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3048000" y="3061167"/>
            <a:ext cx="12192000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Results and Demonstration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28641-2ED1-CD2B-DFDB-FAEF773A3720}"/>
              </a:ext>
            </a:extLst>
          </p:cNvPr>
          <p:cNvSpPr txBox="1"/>
          <p:nvPr/>
        </p:nvSpPr>
        <p:spPr>
          <a:xfrm>
            <a:off x="5791200" y="5741755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/ellenmartin11/</a:t>
            </a:r>
            <a:r>
              <a:rPr lang="en-US" dirty="0" err="1"/>
              <a:t>simulating_mouse_learning_RL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54CC46-301C-0515-2603-527625AEEED1}"/>
              </a:ext>
            </a:extLst>
          </p:cNvPr>
          <p:cNvSpPr txBox="1"/>
          <p:nvPr/>
        </p:nvSpPr>
        <p:spPr>
          <a:xfrm>
            <a:off x="5791200" y="6329462"/>
            <a:ext cx="670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Please refer to the </a:t>
            </a:r>
            <a:r>
              <a:rPr lang="en-US" dirty="0" err="1"/>
              <a:t>Formatted_Results.ipynb</a:t>
            </a:r>
            <a:r>
              <a:rPr lang="en-US" dirty="0"/>
              <a:t> for summarized modelling methods and results of the three main RL models.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499</Words>
  <Application>Microsoft Macintosh PowerPoint</Application>
  <PresentationFormat>Custom</PresentationFormat>
  <Paragraphs>47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Calibri</vt:lpstr>
      <vt:lpstr>Aptos</vt:lpstr>
      <vt:lpstr>Barlow Bold</vt:lpstr>
      <vt:lpstr>Barlow Bold Italics</vt:lpstr>
      <vt:lpstr>Barlow</vt:lpstr>
      <vt:lpstr>Barlow Semi-Bold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Project Proposal Presentation</dc:title>
  <cp:lastModifiedBy>Martin, Ellen Jane</cp:lastModifiedBy>
  <cp:revision>7</cp:revision>
  <dcterms:created xsi:type="dcterms:W3CDTF">2006-08-16T00:00:00Z</dcterms:created>
  <dcterms:modified xsi:type="dcterms:W3CDTF">2025-12-06T16:01:22Z</dcterms:modified>
  <dc:identifier>DAG4Wa6hZGE</dc:identifier>
</cp:coreProperties>
</file>